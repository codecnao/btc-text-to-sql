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18895" y="770255"/>
            <a:ext cx="91332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K Normal" panose="020B0400000000000000" pitchFamily="34" charset="-128"/>
                <a:ea typeface="Source Han Sans K Normal" panose="020B0400000000000000" pitchFamily="34" charset="-128"/>
              </a:rPr>
              <a:t>Where Text-to-SQL Breaks on Bitcoin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Source Han Sans K Normal" panose="020B0400000000000000" pitchFamily="34" charset="-128"/>
              <a:ea typeface="Source Han Sans K Normal" panose="020B0400000000000000" pitchFamily="34" charset="-128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98087" y="1020610"/>
            <a:ext cx="773160" cy="773160"/>
            <a:chOff x="868974" y="4410921"/>
            <a:chExt cx="773160" cy="773160"/>
          </a:xfrm>
        </p:grpSpPr>
        <p:sp>
          <p:nvSpPr>
            <p:cNvPr id="6" name="椭圆 5"/>
            <p:cNvSpPr/>
            <p:nvPr/>
          </p:nvSpPr>
          <p:spPr>
            <a:xfrm>
              <a:off x="868974" y="4410921"/>
              <a:ext cx="773160" cy="77316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Freeform 91"/>
            <p:cNvSpPr>
              <a:spLocks noEditPoints="1"/>
            </p:cNvSpPr>
            <p:nvPr/>
          </p:nvSpPr>
          <p:spPr bwMode="auto">
            <a:xfrm>
              <a:off x="1010809" y="4594862"/>
              <a:ext cx="496816" cy="405277"/>
            </a:xfrm>
            <a:custGeom>
              <a:avLst/>
              <a:gdLst>
                <a:gd name="T0" fmla="*/ 34 w 269"/>
                <a:gd name="T1" fmla="*/ 152 h 219"/>
                <a:gd name="T2" fmla="*/ 148 w 269"/>
                <a:gd name="T3" fmla="*/ 177 h 219"/>
                <a:gd name="T4" fmla="*/ 153 w 269"/>
                <a:gd name="T5" fmla="*/ 176 h 219"/>
                <a:gd name="T6" fmla="*/ 264 w 269"/>
                <a:gd name="T7" fmla="*/ 118 h 219"/>
                <a:gd name="T8" fmla="*/ 267 w 269"/>
                <a:gd name="T9" fmla="*/ 107 h 219"/>
                <a:gd name="T10" fmla="*/ 257 w 269"/>
                <a:gd name="T11" fmla="*/ 104 h 219"/>
                <a:gd name="T12" fmla="*/ 148 w 269"/>
                <a:gd name="T13" fmla="*/ 161 h 219"/>
                <a:gd name="T14" fmla="*/ 28 w 269"/>
                <a:gd name="T15" fmla="*/ 136 h 219"/>
                <a:gd name="T16" fmla="*/ 18 w 269"/>
                <a:gd name="T17" fmla="*/ 120 h 219"/>
                <a:gd name="T18" fmla="*/ 34 w 269"/>
                <a:gd name="T19" fmla="*/ 110 h 219"/>
                <a:gd name="T20" fmla="*/ 150 w 269"/>
                <a:gd name="T21" fmla="*/ 135 h 219"/>
                <a:gd name="T22" fmla="*/ 153 w 269"/>
                <a:gd name="T23" fmla="*/ 134 h 219"/>
                <a:gd name="T24" fmla="*/ 264 w 269"/>
                <a:gd name="T25" fmla="*/ 76 h 219"/>
                <a:gd name="T26" fmla="*/ 267 w 269"/>
                <a:gd name="T27" fmla="*/ 65 h 219"/>
                <a:gd name="T28" fmla="*/ 257 w 269"/>
                <a:gd name="T29" fmla="*/ 62 h 219"/>
                <a:gd name="T30" fmla="*/ 148 w 269"/>
                <a:gd name="T31" fmla="*/ 119 h 219"/>
                <a:gd name="T32" fmla="*/ 28 w 269"/>
                <a:gd name="T33" fmla="*/ 93 h 219"/>
                <a:gd name="T34" fmla="*/ 18 w 269"/>
                <a:gd name="T35" fmla="*/ 78 h 219"/>
                <a:gd name="T36" fmla="*/ 34 w 269"/>
                <a:gd name="T37" fmla="*/ 68 h 219"/>
                <a:gd name="T38" fmla="*/ 143 w 269"/>
                <a:gd name="T39" fmla="*/ 91 h 219"/>
                <a:gd name="T40" fmla="*/ 146 w 269"/>
                <a:gd name="T41" fmla="*/ 90 h 219"/>
                <a:gd name="T42" fmla="*/ 257 w 269"/>
                <a:gd name="T43" fmla="*/ 32 h 219"/>
                <a:gd name="T44" fmla="*/ 256 w 269"/>
                <a:gd name="T45" fmla="*/ 22 h 219"/>
                <a:gd name="T46" fmla="*/ 148 w 269"/>
                <a:gd name="T47" fmla="*/ 1 h 219"/>
                <a:gd name="T48" fmla="*/ 119 w 269"/>
                <a:gd name="T49" fmla="*/ 5 h 219"/>
                <a:gd name="T50" fmla="*/ 20 w 269"/>
                <a:gd name="T51" fmla="*/ 54 h 219"/>
                <a:gd name="T52" fmla="*/ 16 w 269"/>
                <a:gd name="T53" fmla="*/ 56 h 219"/>
                <a:gd name="T54" fmla="*/ 3 w 269"/>
                <a:gd name="T55" fmla="*/ 75 h 219"/>
                <a:gd name="T56" fmla="*/ 12 w 269"/>
                <a:gd name="T57" fmla="*/ 102 h 219"/>
                <a:gd name="T58" fmla="*/ 3 w 269"/>
                <a:gd name="T59" fmla="*/ 117 h 219"/>
                <a:gd name="T60" fmla="*/ 12 w 269"/>
                <a:gd name="T61" fmla="*/ 144 h 219"/>
                <a:gd name="T62" fmla="*/ 3 w 269"/>
                <a:gd name="T63" fmla="*/ 159 h 219"/>
                <a:gd name="T64" fmla="*/ 25 w 269"/>
                <a:gd name="T65" fmla="*/ 193 h 219"/>
                <a:gd name="T66" fmla="*/ 149 w 269"/>
                <a:gd name="T67" fmla="*/ 219 h 219"/>
                <a:gd name="T68" fmla="*/ 153 w 269"/>
                <a:gd name="T69" fmla="*/ 218 h 219"/>
                <a:gd name="T70" fmla="*/ 264 w 269"/>
                <a:gd name="T71" fmla="*/ 160 h 219"/>
                <a:gd name="T72" fmla="*/ 267 w 269"/>
                <a:gd name="T73" fmla="*/ 150 h 219"/>
                <a:gd name="T74" fmla="*/ 257 w 269"/>
                <a:gd name="T75" fmla="*/ 146 h 219"/>
                <a:gd name="T76" fmla="*/ 148 w 269"/>
                <a:gd name="T77" fmla="*/ 204 h 219"/>
                <a:gd name="T78" fmla="*/ 28 w 269"/>
                <a:gd name="T79" fmla="*/ 178 h 219"/>
                <a:gd name="T80" fmla="*/ 18 w 269"/>
                <a:gd name="T81" fmla="*/ 162 h 219"/>
                <a:gd name="T82" fmla="*/ 34 w 269"/>
                <a:gd name="T83" fmla="*/ 152 h 219"/>
                <a:gd name="T84" fmla="*/ 142 w 269"/>
                <a:gd name="T85" fmla="*/ 26 h 219"/>
                <a:gd name="T86" fmla="*/ 193 w 269"/>
                <a:gd name="T87" fmla="*/ 37 h 219"/>
                <a:gd name="T88" fmla="*/ 170 w 269"/>
                <a:gd name="T89" fmla="*/ 48 h 219"/>
                <a:gd name="T90" fmla="*/ 119 w 269"/>
                <a:gd name="T91" fmla="*/ 37 h 219"/>
                <a:gd name="T92" fmla="*/ 142 w 269"/>
                <a:gd name="T93" fmla="*/ 26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69" h="219">
                  <a:moveTo>
                    <a:pt x="34" y="152"/>
                  </a:moveTo>
                  <a:cubicBezTo>
                    <a:pt x="34" y="152"/>
                    <a:pt x="148" y="177"/>
                    <a:pt x="148" y="177"/>
                  </a:cubicBezTo>
                  <a:cubicBezTo>
                    <a:pt x="150" y="177"/>
                    <a:pt x="152" y="177"/>
                    <a:pt x="153" y="176"/>
                  </a:cubicBezTo>
                  <a:cubicBezTo>
                    <a:pt x="264" y="118"/>
                    <a:pt x="264" y="118"/>
                    <a:pt x="264" y="118"/>
                  </a:cubicBezTo>
                  <a:cubicBezTo>
                    <a:pt x="267" y="116"/>
                    <a:pt x="269" y="111"/>
                    <a:pt x="267" y="107"/>
                  </a:cubicBezTo>
                  <a:cubicBezTo>
                    <a:pt x="265" y="104"/>
                    <a:pt x="260" y="102"/>
                    <a:pt x="257" y="104"/>
                  </a:cubicBezTo>
                  <a:cubicBezTo>
                    <a:pt x="148" y="161"/>
                    <a:pt x="148" y="161"/>
                    <a:pt x="148" y="161"/>
                  </a:cubicBezTo>
                  <a:cubicBezTo>
                    <a:pt x="28" y="136"/>
                    <a:pt x="28" y="136"/>
                    <a:pt x="28" y="136"/>
                  </a:cubicBezTo>
                  <a:cubicBezTo>
                    <a:pt x="21" y="134"/>
                    <a:pt x="17" y="127"/>
                    <a:pt x="18" y="120"/>
                  </a:cubicBezTo>
                  <a:cubicBezTo>
                    <a:pt x="20" y="113"/>
                    <a:pt x="27" y="108"/>
                    <a:pt x="34" y="110"/>
                  </a:cubicBezTo>
                  <a:cubicBezTo>
                    <a:pt x="34" y="110"/>
                    <a:pt x="149" y="135"/>
                    <a:pt x="150" y="135"/>
                  </a:cubicBezTo>
                  <a:cubicBezTo>
                    <a:pt x="151" y="135"/>
                    <a:pt x="152" y="134"/>
                    <a:pt x="153" y="134"/>
                  </a:cubicBezTo>
                  <a:cubicBezTo>
                    <a:pt x="264" y="76"/>
                    <a:pt x="264" y="76"/>
                    <a:pt x="264" y="76"/>
                  </a:cubicBezTo>
                  <a:cubicBezTo>
                    <a:pt x="267" y="74"/>
                    <a:pt x="269" y="69"/>
                    <a:pt x="267" y="65"/>
                  </a:cubicBezTo>
                  <a:cubicBezTo>
                    <a:pt x="265" y="61"/>
                    <a:pt x="260" y="60"/>
                    <a:pt x="257" y="62"/>
                  </a:cubicBezTo>
                  <a:cubicBezTo>
                    <a:pt x="148" y="119"/>
                    <a:pt x="148" y="119"/>
                    <a:pt x="148" y="119"/>
                  </a:cubicBezTo>
                  <a:cubicBezTo>
                    <a:pt x="28" y="93"/>
                    <a:pt x="28" y="93"/>
                    <a:pt x="28" y="93"/>
                  </a:cubicBezTo>
                  <a:cubicBezTo>
                    <a:pt x="21" y="92"/>
                    <a:pt x="17" y="85"/>
                    <a:pt x="18" y="78"/>
                  </a:cubicBezTo>
                  <a:cubicBezTo>
                    <a:pt x="20" y="71"/>
                    <a:pt x="27" y="66"/>
                    <a:pt x="34" y="68"/>
                  </a:cubicBezTo>
                  <a:cubicBezTo>
                    <a:pt x="34" y="68"/>
                    <a:pt x="142" y="91"/>
                    <a:pt x="143" y="91"/>
                  </a:cubicBezTo>
                  <a:cubicBezTo>
                    <a:pt x="144" y="91"/>
                    <a:pt x="145" y="90"/>
                    <a:pt x="146" y="90"/>
                  </a:cubicBezTo>
                  <a:cubicBezTo>
                    <a:pt x="146" y="90"/>
                    <a:pt x="257" y="32"/>
                    <a:pt x="257" y="32"/>
                  </a:cubicBezTo>
                  <a:cubicBezTo>
                    <a:pt x="265" y="28"/>
                    <a:pt x="264" y="24"/>
                    <a:pt x="256" y="22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0" y="0"/>
                    <a:pt x="127" y="1"/>
                    <a:pt x="119" y="5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18" y="55"/>
                    <a:pt x="17" y="56"/>
                    <a:pt x="16" y="56"/>
                  </a:cubicBezTo>
                  <a:cubicBezTo>
                    <a:pt x="10" y="60"/>
                    <a:pt x="5" y="67"/>
                    <a:pt x="3" y="75"/>
                  </a:cubicBezTo>
                  <a:cubicBezTo>
                    <a:pt x="1" y="85"/>
                    <a:pt x="5" y="95"/>
                    <a:pt x="12" y="102"/>
                  </a:cubicBezTo>
                  <a:cubicBezTo>
                    <a:pt x="8" y="106"/>
                    <a:pt x="5" y="111"/>
                    <a:pt x="3" y="117"/>
                  </a:cubicBezTo>
                  <a:cubicBezTo>
                    <a:pt x="1" y="127"/>
                    <a:pt x="5" y="137"/>
                    <a:pt x="12" y="144"/>
                  </a:cubicBezTo>
                  <a:cubicBezTo>
                    <a:pt x="8" y="148"/>
                    <a:pt x="5" y="153"/>
                    <a:pt x="3" y="159"/>
                  </a:cubicBezTo>
                  <a:cubicBezTo>
                    <a:pt x="0" y="174"/>
                    <a:pt x="10" y="190"/>
                    <a:pt x="25" y="193"/>
                  </a:cubicBezTo>
                  <a:cubicBezTo>
                    <a:pt x="25" y="193"/>
                    <a:pt x="148" y="219"/>
                    <a:pt x="149" y="219"/>
                  </a:cubicBezTo>
                  <a:cubicBezTo>
                    <a:pt x="150" y="219"/>
                    <a:pt x="152" y="219"/>
                    <a:pt x="153" y="218"/>
                  </a:cubicBezTo>
                  <a:cubicBezTo>
                    <a:pt x="264" y="160"/>
                    <a:pt x="264" y="160"/>
                    <a:pt x="264" y="160"/>
                  </a:cubicBezTo>
                  <a:cubicBezTo>
                    <a:pt x="267" y="158"/>
                    <a:pt x="269" y="153"/>
                    <a:pt x="267" y="150"/>
                  </a:cubicBezTo>
                  <a:cubicBezTo>
                    <a:pt x="265" y="146"/>
                    <a:pt x="260" y="145"/>
                    <a:pt x="257" y="146"/>
                  </a:cubicBezTo>
                  <a:cubicBezTo>
                    <a:pt x="148" y="204"/>
                    <a:pt x="148" y="204"/>
                    <a:pt x="148" y="204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21" y="176"/>
                    <a:pt x="17" y="169"/>
                    <a:pt x="18" y="162"/>
                  </a:cubicBezTo>
                  <a:cubicBezTo>
                    <a:pt x="20" y="155"/>
                    <a:pt x="27" y="151"/>
                    <a:pt x="34" y="152"/>
                  </a:cubicBezTo>
                  <a:close/>
                  <a:moveTo>
                    <a:pt x="142" y="26"/>
                  </a:moveTo>
                  <a:cubicBezTo>
                    <a:pt x="193" y="37"/>
                    <a:pt x="193" y="37"/>
                    <a:pt x="193" y="37"/>
                  </a:cubicBezTo>
                  <a:cubicBezTo>
                    <a:pt x="170" y="48"/>
                    <a:pt x="170" y="48"/>
                    <a:pt x="170" y="48"/>
                  </a:cubicBezTo>
                  <a:cubicBezTo>
                    <a:pt x="119" y="37"/>
                    <a:pt x="119" y="37"/>
                    <a:pt x="119" y="37"/>
                  </a:cubicBezTo>
                  <a:lnTo>
                    <a:pt x="142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318895" y="179387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</a:rPr>
              <a:t>The limit we </a:t>
            </a: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Arial Regular" panose="020B0604020202090204" charset="0"/>
                <a:ea typeface="PingFang SC Semibold" panose="020B0400000000000000" charset="-122"/>
                <a:cs typeface="Arial Regular" panose="020B0604020202090204" charset="0"/>
              </a:rPr>
              <a:t>found</a:t>
            </a: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</a:rPr>
              <a:t>: when the schema is not enough</a:t>
            </a:r>
            <a:endParaRPr lang="en-US" altLang="zh-CN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318895" y="2498090"/>
            <a:ext cx="9133205" cy="1861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/>
            <a:r>
              <a:rPr lang="en-US" altLang="zh-CN"/>
              <a:t>Our system (gpt-5.1) handles complex UTXO graph traversal, recursive CTEs,</a:t>
            </a:r>
            <a:endParaRPr lang="en-US" altLang="zh-CN"/>
          </a:p>
          <a:p>
            <a:pPr algn="just"/>
            <a:r>
              <a:rPr lang="en-US" altLang="zh-CN"/>
              <a:t>and multi-table aggregations correctly. It fails when the answer requires</a:t>
            </a:r>
            <a:endParaRPr lang="en-US" altLang="zh-CN"/>
          </a:p>
          <a:p>
            <a:pPr algn="just"/>
            <a:r>
              <a:rPr lang="en-US" altLang="zh-CN"/>
              <a:t>knowledge or capabilities “outside” the schema.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18895" y="770255"/>
            <a:ext cx="91332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K Normal" panose="020B0400000000000000" pitchFamily="34" charset="-128"/>
                <a:ea typeface="Source Han Sans K Normal" panose="020B0400000000000000" pitchFamily="34" charset="-128"/>
              </a:rPr>
              <a:t>Where Text-to-SQL Breaks on Bitcoin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Source Han Sans K Normal" panose="020B0400000000000000" pitchFamily="34" charset="-128"/>
              <a:ea typeface="Source Han Sans K Normal" panose="020B0400000000000000" pitchFamily="34" charset="-128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98087" y="1020610"/>
            <a:ext cx="773160" cy="773160"/>
            <a:chOff x="868974" y="4410921"/>
            <a:chExt cx="773160" cy="773160"/>
          </a:xfrm>
        </p:grpSpPr>
        <p:sp>
          <p:nvSpPr>
            <p:cNvPr id="6" name="椭圆 5"/>
            <p:cNvSpPr/>
            <p:nvPr/>
          </p:nvSpPr>
          <p:spPr>
            <a:xfrm>
              <a:off x="868974" y="4410921"/>
              <a:ext cx="773160" cy="77316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Freeform 91"/>
            <p:cNvSpPr>
              <a:spLocks noEditPoints="1"/>
            </p:cNvSpPr>
            <p:nvPr/>
          </p:nvSpPr>
          <p:spPr bwMode="auto">
            <a:xfrm>
              <a:off x="1010809" y="4594862"/>
              <a:ext cx="496816" cy="405277"/>
            </a:xfrm>
            <a:custGeom>
              <a:avLst/>
              <a:gdLst>
                <a:gd name="T0" fmla="*/ 34 w 269"/>
                <a:gd name="T1" fmla="*/ 152 h 219"/>
                <a:gd name="T2" fmla="*/ 148 w 269"/>
                <a:gd name="T3" fmla="*/ 177 h 219"/>
                <a:gd name="T4" fmla="*/ 153 w 269"/>
                <a:gd name="T5" fmla="*/ 176 h 219"/>
                <a:gd name="T6" fmla="*/ 264 w 269"/>
                <a:gd name="T7" fmla="*/ 118 h 219"/>
                <a:gd name="T8" fmla="*/ 267 w 269"/>
                <a:gd name="T9" fmla="*/ 107 h 219"/>
                <a:gd name="T10" fmla="*/ 257 w 269"/>
                <a:gd name="T11" fmla="*/ 104 h 219"/>
                <a:gd name="T12" fmla="*/ 148 w 269"/>
                <a:gd name="T13" fmla="*/ 161 h 219"/>
                <a:gd name="T14" fmla="*/ 28 w 269"/>
                <a:gd name="T15" fmla="*/ 136 h 219"/>
                <a:gd name="T16" fmla="*/ 18 w 269"/>
                <a:gd name="T17" fmla="*/ 120 h 219"/>
                <a:gd name="T18" fmla="*/ 34 w 269"/>
                <a:gd name="T19" fmla="*/ 110 h 219"/>
                <a:gd name="T20" fmla="*/ 150 w 269"/>
                <a:gd name="T21" fmla="*/ 135 h 219"/>
                <a:gd name="T22" fmla="*/ 153 w 269"/>
                <a:gd name="T23" fmla="*/ 134 h 219"/>
                <a:gd name="T24" fmla="*/ 264 w 269"/>
                <a:gd name="T25" fmla="*/ 76 h 219"/>
                <a:gd name="T26" fmla="*/ 267 w 269"/>
                <a:gd name="T27" fmla="*/ 65 h 219"/>
                <a:gd name="T28" fmla="*/ 257 w 269"/>
                <a:gd name="T29" fmla="*/ 62 h 219"/>
                <a:gd name="T30" fmla="*/ 148 w 269"/>
                <a:gd name="T31" fmla="*/ 119 h 219"/>
                <a:gd name="T32" fmla="*/ 28 w 269"/>
                <a:gd name="T33" fmla="*/ 93 h 219"/>
                <a:gd name="T34" fmla="*/ 18 w 269"/>
                <a:gd name="T35" fmla="*/ 78 h 219"/>
                <a:gd name="T36" fmla="*/ 34 w 269"/>
                <a:gd name="T37" fmla="*/ 68 h 219"/>
                <a:gd name="T38" fmla="*/ 143 w 269"/>
                <a:gd name="T39" fmla="*/ 91 h 219"/>
                <a:gd name="T40" fmla="*/ 146 w 269"/>
                <a:gd name="T41" fmla="*/ 90 h 219"/>
                <a:gd name="T42" fmla="*/ 257 w 269"/>
                <a:gd name="T43" fmla="*/ 32 h 219"/>
                <a:gd name="T44" fmla="*/ 256 w 269"/>
                <a:gd name="T45" fmla="*/ 22 h 219"/>
                <a:gd name="T46" fmla="*/ 148 w 269"/>
                <a:gd name="T47" fmla="*/ 1 h 219"/>
                <a:gd name="T48" fmla="*/ 119 w 269"/>
                <a:gd name="T49" fmla="*/ 5 h 219"/>
                <a:gd name="T50" fmla="*/ 20 w 269"/>
                <a:gd name="T51" fmla="*/ 54 h 219"/>
                <a:gd name="T52" fmla="*/ 16 w 269"/>
                <a:gd name="T53" fmla="*/ 56 h 219"/>
                <a:gd name="T54" fmla="*/ 3 w 269"/>
                <a:gd name="T55" fmla="*/ 75 h 219"/>
                <a:gd name="T56" fmla="*/ 12 w 269"/>
                <a:gd name="T57" fmla="*/ 102 h 219"/>
                <a:gd name="T58" fmla="*/ 3 w 269"/>
                <a:gd name="T59" fmla="*/ 117 h 219"/>
                <a:gd name="T60" fmla="*/ 12 w 269"/>
                <a:gd name="T61" fmla="*/ 144 h 219"/>
                <a:gd name="T62" fmla="*/ 3 w 269"/>
                <a:gd name="T63" fmla="*/ 159 h 219"/>
                <a:gd name="T64" fmla="*/ 25 w 269"/>
                <a:gd name="T65" fmla="*/ 193 h 219"/>
                <a:gd name="T66" fmla="*/ 149 w 269"/>
                <a:gd name="T67" fmla="*/ 219 h 219"/>
                <a:gd name="T68" fmla="*/ 153 w 269"/>
                <a:gd name="T69" fmla="*/ 218 h 219"/>
                <a:gd name="T70" fmla="*/ 264 w 269"/>
                <a:gd name="T71" fmla="*/ 160 h 219"/>
                <a:gd name="T72" fmla="*/ 267 w 269"/>
                <a:gd name="T73" fmla="*/ 150 h 219"/>
                <a:gd name="T74" fmla="*/ 257 w 269"/>
                <a:gd name="T75" fmla="*/ 146 h 219"/>
                <a:gd name="T76" fmla="*/ 148 w 269"/>
                <a:gd name="T77" fmla="*/ 204 h 219"/>
                <a:gd name="T78" fmla="*/ 28 w 269"/>
                <a:gd name="T79" fmla="*/ 178 h 219"/>
                <a:gd name="T80" fmla="*/ 18 w 269"/>
                <a:gd name="T81" fmla="*/ 162 h 219"/>
                <a:gd name="T82" fmla="*/ 34 w 269"/>
                <a:gd name="T83" fmla="*/ 152 h 219"/>
                <a:gd name="T84" fmla="*/ 142 w 269"/>
                <a:gd name="T85" fmla="*/ 26 h 219"/>
                <a:gd name="T86" fmla="*/ 193 w 269"/>
                <a:gd name="T87" fmla="*/ 37 h 219"/>
                <a:gd name="T88" fmla="*/ 170 w 269"/>
                <a:gd name="T89" fmla="*/ 48 h 219"/>
                <a:gd name="T90" fmla="*/ 119 w 269"/>
                <a:gd name="T91" fmla="*/ 37 h 219"/>
                <a:gd name="T92" fmla="*/ 142 w 269"/>
                <a:gd name="T93" fmla="*/ 26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69" h="219">
                  <a:moveTo>
                    <a:pt x="34" y="152"/>
                  </a:moveTo>
                  <a:cubicBezTo>
                    <a:pt x="34" y="152"/>
                    <a:pt x="148" y="177"/>
                    <a:pt x="148" y="177"/>
                  </a:cubicBezTo>
                  <a:cubicBezTo>
                    <a:pt x="150" y="177"/>
                    <a:pt x="152" y="177"/>
                    <a:pt x="153" y="176"/>
                  </a:cubicBezTo>
                  <a:cubicBezTo>
                    <a:pt x="264" y="118"/>
                    <a:pt x="264" y="118"/>
                    <a:pt x="264" y="118"/>
                  </a:cubicBezTo>
                  <a:cubicBezTo>
                    <a:pt x="267" y="116"/>
                    <a:pt x="269" y="111"/>
                    <a:pt x="267" y="107"/>
                  </a:cubicBezTo>
                  <a:cubicBezTo>
                    <a:pt x="265" y="104"/>
                    <a:pt x="260" y="102"/>
                    <a:pt x="257" y="104"/>
                  </a:cubicBezTo>
                  <a:cubicBezTo>
                    <a:pt x="148" y="161"/>
                    <a:pt x="148" y="161"/>
                    <a:pt x="148" y="161"/>
                  </a:cubicBezTo>
                  <a:cubicBezTo>
                    <a:pt x="28" y="136"/>
                    <a:pt x="28" y="136"/>
                    <a:pt x="28" y="136"/>
                  </a:cubicBezTo>
                  <a:cubicBezTo>
                    <a:pt x="21" y="134"/>
                    <a:pt x="17" y="127"/>
                    <a:pt x="18" y="120"/>
                  </a:cubicBezTo>
                  <a:cubicBezTo>
                    <a:pt x="20" y="113"/>
                    <a:pt x="27" y="108"/>
                    <a:pt x="34" y="110"/>
                  </a:cubicBezTo>
                  <a:cubicBezTo>
                    <a:pt x="34" y="110"/>
                    <a:pt x="149" y="135"/>
                    <a:pt x="150" y="135"/>
                  </a:cubicBezTo>
                  <a:cubicBezTo>
                    <a:pt x="151" y="135"/>
                    <a:pt x="152" y="134"/>
                    <a:pt x="153" y="134"/>
                  </a:cubicBezTo>
                  <a:cubicBezTo>
                    <a:pt x="264" y="76"/>
                    <a:pt x="264" y="76"/>
                    <a:pt x="264" y="76"/>
                  </a:cubicBezTo>
                  <a:cubicBezTo>
                    <a:pt x="267" y="74"/>
                    <a:pt x="269" y="69"/>
                    <a:pt x="267" y="65"/>
                  </a:cubicBezTo>
                  <a:cubicBezTo>
                    <a:pt x="265" y="61"/>
                    <a:pt x="260" y="60"/>
                    <a:pt x="257" y="62"/>
                  </a:cubicBezTo>
                  <a:cubicBezTo>
                    <a:pt x="148" y="119"/>
                    <a:pt x="148" y="119"/>
                    <a:pt x="148" y="119"/>
                  </a:cubicBezTo>
                  <a:cubicBezTo>
                    <a:pt x="28" y="93"/>
                    <a:pt x="28" y="93"/>
                    <a:pt x="28" y="93"/>
                  </a:cubicBezTo>
                  <a:cubicBezTo>
                    <a:pt x="21" y="92"/>
                    <a:pt x="17" y="85"/>
                    <a:pt x="18" y="78"/>
                  </a:cubicBezTo>
                  <a:cubicBezTo>
                    <a:pt x="20" y="71"/>
                    <a:pt x="27" y="66"/>
                    <a:pt x="34" y="68"/>
                  </a:cubicBezTo>
                  <a:cubicBezTo>
                    <a:pt x="34" y="68"/>
                    <a:pt x="142" y="91"/>
                    <a:pt x="143" y="91"/>
                  </a:cubicBezTo>
                  <a:cubicBezTo>
                    <a:pt x="144" y="91"/>
                    <a:pt x="145" y="90"/>
                    <a:pt x="146" y="90"/>
                  </a:cubicBezTo>
                  <a:cubicBezTo>
                    <a:pt x="146" y="90"/>
                    <a:pt x="257" y="32"/>
                    <a:pt x="257" y="32"/>
                  </a:cubicBezTo>
                  <a:cubicBezTo>
                    <a:pt x="265" y="28"/>
                    <a:pt x="264" y="24"/>
                    <a:pt x="256" y="22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0" y="0"/>
                    <a:pt x="127" y="1"/>
                    <a:pt x="119" y="5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18" y="55"/>
                    <a:pt x="17" y="56"/>
                    <a:pt x="16" y="56"/>
                  </a:cubicBezTo>
                  <a:cubicBezTo>
                    <a:pt x="10" y="60"/>
                    <a:pt x="5" y="67"/>
                    <a:pt x="3" y="75"/>
                  </a:cubicBezTo>
                  <a:cubicBezTo>
                    <a:pt x="1" y="85"/>
                    <a:pt x="5" y="95"/>
                    <a:pt x="12" y="102"/>
                  </a:cubicBezTo>
                  <a:cubicBezTo>
                    <a:pt x="8" y="106"/>
                    <a:pt x="5" y="111"/>
                    <a:pt x="3" y="117"/>
                  </a:cubicBezTo>
                  <a:cubicBezTo>
                    <a:pt x="1" y="127"/>
                    <a:pt x="5" y="137"/>
                    <a:pt x="12" y="144"/>
                  </a:cubicBezTo>
                  <a:cubicBezTo>
                    <a:pt x="8" y="148"/>
                    <a:pt x="5" y="153"/>
                    <a:pt x="3" y="159"/>
                  </a:cubicBezTo>
                  <a:cubicBezTo>
                    <a:pt x="0" y="174"/>
                    <a:pt x="10" y="190"/>
                    <a:pt x="25" y="193"/>
                  </a:cubicBezTo>
                  <a:cubicBezTo>
                    <a:pt x="25" y="193"/>
                    <a:pt x="148" y="219"/>
                    <a:pt x="149" y="219"/>
                  </a:cubicBezTo>
                  <a:cubicBezTo>
                    <a:pt x="150" y="219"/>
                    <a:pt x="152" y="219"/>
                    <a:pt x="153" y="218"/>
                  </a:cubicBezTo>
                  <a:cubicBezTo>
                    <a:pt x="264" y="160"/>
                    <a:pt x="264" y="160"/>
                    <a:pt x="264" y="160"/>
                  </a:cubicBezTo>
                  <a:cubicBezTo>
                    <a:pt x="267" y="158"/>
                    <a:pt x="269" y="153"/>
                    <a:pt x="267" y="150"/>
                  </a:cubicBezTo>
                  <a:cubicBezTo>
                    <a:pt x="265" y="146"/>
                    <a:pt x="260" y="145"/>
                    <a:pt x="257" y="146"/>
                  </a:cubicBezTo>
                  <a:cubicBezTo>
                    <a:pt x="148" y="204"/>
                    <a:pt x="148" y="204"/>
                    <a:pt x="148" y="204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21" y="176"/>
                    <a:pt x="17" y="169"/>
                    <a:pt x="18" y="162"/>
                  </a:cubicBezTo>
                  <a:cubicBezTo>
                    <a:pt x="20" y="155"/>
                    <a:pt x="27" y="151"/>
                    <a:pt x="34" y="152"/>
                  </a:cubicBezTo>
                  <a:close/>
                  <a:moveTo>
                    <a:pt x="142" y="26"/>
                  </a:moveTo>
                  <a:cubicBezTo>
                    <a:pt x="193" y="37"/>
                    <a:pt x="193" y="37"/>
                    <a:pt x="193" y="37"/>
                  </a:cubicBezTo>
                  <a:cubicBezTo>
                    <a:pt x="170" y="48"/>
                    <a:pt x="170" y="48"/>
                    <a:pt x="170" y="48"/>
                  </a:cubicBezTo>
                  <a:cubicBezTo>
                    <a:pt x="119" y="37"/>
                    <a:pt x="119" y="37"/>
                    <a:pt x="119" y="37"/>
                  </a:cubicBezTo>
                  <a:lnTo>
                    <a:pt x="142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318895" y="1793875"/>
            <a:ext cx="71393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</a:rPr>
              <a:t>Case 1 — External knowledge: the Bitcoin pizza transaction</a:t>
            </a:r>
            <a:endParaRPr lang="en-US" altLang="zh-CN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318895" y="2232660"/>
            <a:ext cx="9133205" cy="1861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/>
            <a:r>
              <a:rPr lang="en-US" altLang="zh-CN" sz="1400"/>
              <a:t>Q: In which block height was the famous Bitcoin pizza transaction?</a:t>
            </a:r>
            <a:endParaRPr lang="en-US" altLang="zh-CN" sz="1400"/>
          </a:p>
          <a:p>
            <a:pPr algn="just"/>
            <a:r>
              <a:rPr lang="en-US" altLang="zh-CN" sz="1400"/>
              <a:t>- Correct: look up txid `a1075db5...` </a:t>
            </a:r>
            <a:r>
              <a:rPr lang="en-US" altLang="en-US" sz="1400"/>
              <a:t>→</a:t>
            </a:r>
            <a:r>
              <a:rPr lang="en-US" altLang="zh-CN" sz="1400"/>
              <a:t> block 57043</a:t>
            </a:r>
            <a:endParaRPr lang="en-US" altLang="zh-CN" sz="1400"/>
          </a:p>
          <a:p>
            <a:pPr algn="just"/>
            <a:r>
              <a:rPr lang="en-US" altLang="zh-CN" sz="1400"/>
              <a:t>- System does: search for outputs with value = 10,000 BTC </a:t>
            </a:r>
            <a:r>
              <a:rPr lang="en-US" altLang="en-US" sz="1400"/>
              <a:t>→</a:t>
            </a:r>
            <a:r>
              <a:rPr lang="en-US" altLang="zh-CN" sz="1400"/>
              <a:t> block 26817</a:t>
            </a:r>
            <a:endParaRPr lang="en-US" altLang="zh-CN" sz="1400"/>
          </a:p>
          <a:p>
            <a:pPr algn="just"/>
            <a:r>
              <a:rPr lang="en-US" altLang="zh-CN" sz="1400"/>
              <a:t>- Root cause: the txid is not derivable from the schema; the model falls back</a:t>
            </a:r>
            <a:endParaRPr lang="en-US" altLang="zh-CN" sz="1400"/>
          </a:p>
          <a:p>
            <a:pPr algn="just"/>
            <a:r>
              <a:rPr lang="en-US" altLang="zh-CN" sz="1400"/>
              <a:t>  to a value-based heuristic that matches the wrong transaction</a:t>
            </a:r>
            <a:endParaRPr lang="en-US" altLang="zh-CN" sz="1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8895" y="3623310"/>
            <a:ext cx="8162290" cy="1471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18895" y="770255"/>
            <a:ext cx="91332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K Normal" panose="020B0400000000000000" pitchFamily="34" charset="-128"/>
                <a:ea typeface="Source Han Sans K Normal" panose="020B0400000000000000" pitchFamily="34" charset="-128"/>
              </a:rPr>
              <a:t>Where Text-to-SQL Breaks on Bitcoin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Source Han Sans K Normal" panose="020B0400000000000000" pitchFamily="34" charset="-128"/>
              <a:ea typeface="Source Han Sans K Normal" panose="020B0400000000000000" pitchFamily="34" charset="-128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98087" y="1020610"/>
            <a:ext cx="773160" cy="773160"/>
            <a:chOff x="868974" y="4410921"/>
            <a:chExt cx="773160" cy="773160"/>
          </a:xfrm>
        </p:grpSpPr>
        <p:sp>
          <p:nvSpPr>
            <p:cNvPr id="6" name="椭圆 5"/>
            <p:cNvSpPr/>
            <p:nvPr/>
          </p:nvSpPr>
          <p:spPr>
            <a:xfrm>
              <a:off x="868974" y="4410921"/>
              <a:ext cx="773160" cy="77316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Freeform 91"/>
            <p:cNvSpPr>
              <a:spLocks noEditPoints="1"/>
            </p:cNvSpPr>
            <p:nvPr/>
          </p:nvSpPr>
          <p:spPr bwMode="auto">
            <a:xfrm>
              <a:off x="1010809" y="4594862"/>
              <a:ext cx="496816" cy="405277"/>
            </a:xfrm>
            <a:custGeom>
              <a:avLst/>
              <a:gdLst>
                <a:gd name="T0" fmla="*/ 34 w 269"/>
                <a:gd name="T1" fmla="*/ 152 h 219"/>
                <a:gd name="T2" fmla="*/ 148 w 269"/>
                <a:gd name="T3" fmla="*/ 177 h 219"/>
                <a:gd name="T4" fmla="*/ 153 w 269"/>
                <a:gd name="T5" fmla="*/ 176 h 219"/>
                <a:gd name="T6" fmla="*/ 264 w 269"/>
                <a:gd name="T7" fmla="*/ 118 h 219"/>
                <a:gd name="T8" fmla="*/ 267 w 269"/>
                <a:gd name="T9" fmla="*/ 107 h 219"/>
                <a:gd name="T10" fmla="*/ 257 w 269"/>
                <a:gd name="T11" fmla="*/ 104 h 219"/>
                <a:gd name="T12" fmla="*/ 148 w 269"/>
                <a:gd name="T13" fmla="*/ 161 h 219"/>
                <a:gd name="T14" fmla="*/ 28 w 269"/>
                <a:gd name="T15" fmla="*/ 136 h 219"/>
                <a:gd name="T16" fmla="*/ 18 w 269"/>
                <a:gd name="T17" fmla="*/ 120 h 219"/>
                <a:gd name="T18" fmla="*/ 34 w 269"/>
                <a:gd name="T19" fmla="*/ 110 h 219"/>
                <a:gd name="T20" fmla="*/ 150 w 269"/>
                <a:gd name="T21" fmla="*/ 135 h 219"/>
                <a:gd name="T22" fmla="*/ 153 w 269"/>
                <a:gd name="T23" fmla="*/ 134 h 219"/>
                <a:gd name="T24" fmla="*/ 264 w 269"/>
                <a:gd name="T25" fmla="*/ 76 h 219"/>
                <a:gd name="T26" fmla="*/ 267 w 269"/>
                <a:gd name="T27" fmla="*/ 65 h 219"/>
                <a:gd name="T28" fmla="*/ 257 w 269"/>
                <a:gd name="T29" fmla="*/ 62 h 219"/>
                <a:gd name="T30" fmla="*/ 148 w 269"/>
                <a:gd name="T31" fmla="*/ 119 h 219"/>
                <a:gd name="T32" fmla="*/ 28 w 269"/>
                <a:gd name="T33" fmla="*/ 93 h 219"/>
                <a:gd name="T34" fmla="*/ 18 w 269"/>
                <a:gd name="T35" fmla="*/ 78 h 219"/>
                <a:gd name="T36" fmla="*/ 34 w 269"/>
                <a:gd name="T37" fmla="*/ 68 h 219"/>
                <a:gd name="T38" fmla="*/ 143 w 269"/>
                <a:gd name="T39" fmla="*/ 91 h 219"/>
                <a:gd name="T40" fmla="*/ 146 w 269"/>
                <a:gd name="T41" fmla="*/ 90 h 219"/>
                <a:gd name="T42" fmla="*/ 257 w 269"/>
                <a:gd name="T43" fmla="*/ 32 h 219"/>
                <a:gd name="T44" fmla="*/ 256 w 269"/>
                <a:gd name="T45" fmla="*/ 22 h 219"/>
                <a:gd name="T46" fmla="*/ 148 w 269"/>
                <a:gd name="T47" fmla="*/ 1 h 219"/>
                <a:gd name="T48" fmla="*/ 119 w 269"/>
                <a:gd name="T49" fmla="*/ 5 h 219"/>
                <a:gd name="T50" fmla="*/ 20 w 269"/>
                <a:gd name="T51" fmla="*/ 54 h 219"/>
                <a:gd name="T52" fmla="*/ 16 w 269"/>
                <a:gd name="T53" fmla="*/ 56 h 219"/>
                <a:gd name="T54" fmla="*/ 3 w 269"/>
                <a:gd name="T55" fmla="*/ 75 h 219"/>
                <a:gd name="T56" fmla="*/ 12 w 269"/>
                <a:gd name="T57" fmla="*/ 102 h 219"/>
                <a:gd name="T58" fmla="*/ 3 w 269"/>
                <a:gd name="T59" fmla="*/ 117 h 219"/>
                <a:gd name="T60" fmla="*/ 12 w 269"/>
                <a:gd name="T61" fmla="*/ 144 h 219"/>
                <a:gd name="T62" fmla="*/ 3 w 269"/>
                <a:gd name="T63" fmla="*/ 159 h 219"/>
                <a:gd name="T64" fmla="*/ 25 w 269"/>
                <a:gd name="T65" fmla="*/ 193 h 219"/>
                <a:gd name="T66" fmla="*/ 149 w 269"/>
                <a:gd name="T67" fmla="*/ 219 h 219"/>
                <a:gd name="T68" fmla="*/ 153 w 269"/>
                <a:gd name="T69" fmla="*/ 218 h 219"/>
                <a:gd name="T70" fmla="*/ 264 w 269"/>
                <a:gd name="T71" fmla="*/ 160 h 219"/>
                <a:gd name="T72" fmla="*/ 267 w 269"/>
                <a:gd name="T73" fmla="*/ 150 h 219"/>
                <a:gd name="T74" fmla="*/ 257 w 269"/>
                <a:gd name="T75" fmla="*/ 146 h 219"/>
                <a:gd name="T76" fmla="*/ 148 w 269"/>
                <a:gd name="T77" fmla="*/ 204 h 219"/>
                <a:gd name="T78" fmla="*/ 28 w 269"/>
                <a:gd name="T79" fmla="*/ 178 h 219"/>
                <a:gd name="T80" fmla="*/ 18 w 269"/>
                <a:gd name="T81" fmla="*/ 162 h 219"/>
                <a:gd name="T82" fmla="*/ 34 w 269"/>
                <a:gd name="T83" fmla="*/ 152 h 219"/>
                <a:gd name="T84" fmla="*/ 142 w 269"/>
                <a:gd name="T85" fmla="*/ 26 h 219"/>
                <a:gd name="T86" fmla="*/ 193 w 269"/>
                <a:gd name="T87" fmla="*/ 37 h 219"/>
                <a:gd name="T88" fmla="*/ 170 w 269"/>
                <a:gd name="T89" fmla="*/ 48 h 219"/>
                <a:gd name="T90" fmla="*/ 119 w 269"/>
                <a:gd name="T91" fmla="*/ 37 h 219"/>
                <a:gd name="T92" fmla="*/ 142 w 269"/>
                <a:gd name="T93" fmla="*/ 26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69" h="219">
                  <a:moveTo>
                    <a:pt x="34" y="152"/>
                  </a:moveTo>
                  <a:cubicBezTo>
                    <a:pt x="34" y="152"/>
                    <a:pt x="148" y="177"/>
                    <a:pt x="148" y="177"/>
                  </a:cubicBezTo>
                  <a:cubicBezTo>
                    <a:pt x="150" y="177"/>
                    <a:pt x="152" y="177"/>
                    <a:pt x="153" y="176"/>
                  </a:cubicBezTo>
                  <a:cubicBezTo>
                    <a:pt x="264" y="118"/>
                    <a:pt x="264" y="118"/>
                    <a:pt x="264" y="118"/>
                  </a:cubicBezTo>
                  <a:cubicBezTo>
                    <a:pt x="267" y="116"/>
                    <a:pt x="269" y="111"/>
                    <a:pt x="267" y="107"/>
                  </a:cubicBezTo>
                  <a:cubicBezTo>
                    <a:pt x="265" y="104"/>
                    <a:pt x="260" y="102"/>
                    <a:pt x="257" y="104"/>
                  </a:cubicBezTo>
                  <a:cubicBezTo>
                    <a:pt x="148" y="161"/>
                    <a:pt x="148" y="161"/>
                    <a:pt x="148" y="161"/>
                  </a:cubicBezTo>
                  <a:cubicBezTo>
                    <a:pt x="28" y="136"/>
                    <a:pt x="28" y="136"/>
                    <a:pt x="28" y="136"/>
                  </a:cubicBezTo>
                  <a:cubicBezTo>
                    <a:pt x="21" y="134"/>
                    <a:pt x="17" y="127"/>
                    <a:pt x="18" y="120"/>
                  </a:cubicBezTo>
                  <a:cubicBezTo>
                    <a:pt x="20" y="113"/>
                    <a:pt x="27" y="108"/>
                    <a:pt x="34" y="110"/>
                  </a:cubicBezTo>
                  <a:cubicBezTo>
                    <a:pt x="34" y="110"/>
                    <a:pt x="149" y="135"/>
                    <a:pt x="150" y="135"/>
                  </a:cubicBezTo>
                  <a:cubicBezTo>
                    <a:pt x="151" y="135"/>
                    <a:pt x="152" y="134"/>
                    <a:pt x="153" y="134"/>
                  </a:cubicBezTo>
                  <a:cubicBezTo>
                    <a:pt x="264" y="76"/>
                    <a:pt x="264" y="76"/>
                    <a:pt x="264" y="76"/>
                  </a:cubicBezTo>
                  <a:cubicBezTo>
                    <a:pt x="267" y="74"/>
                    <a:pt x="269" y="69"/>
                    <a:pt x="267" y="65"/>
                  </a:cubicBezTo>
                  <a:cubicBezTo>
                    <a:pt x="265" y="61"/>
                    <a:pt x="260" y="60"/>
                    <a:pt x="257" y="62"/>
                  </a:cubicBezTo>
                  <a:cubicBezTo>
                    <a:pt x="148" y="119"/>
                    <a:pt x="148" y="119"/>
                    <a:pt x="148" y="119"/>
                  </a:cubicBezTo>
                  <a:cubicBezTo>
                    <a:pt x="28" y="93"/>
                    <a:pt x="28" y="93"/>
                    <a:pt x="28" y="93"/>
                  </a:cubicBezTo>
                  <a:cubicBezTo>
                    <a:pt x="21" y="92"/>
                    <a:pt x="17" y="85"/>
                    <a:pt x="18" y="78"/>
                  </a:cubicBezTo>
                  <a:cubicBezTo>
                    <a:pt x="20" y="71"/>
                    <a:pt x="27" y="66"/>
                    <a:pt x="34" y="68"/>
                  </a:cubicBezTo>
                  <a:cubicBezTo>
                    <a:pt x="34" y="68"/>
                    <a:pt x="142" y="91"/>
                    <a:pt x="143" y="91"/>
                  </a:cubicBezTo>
                  <a:cubicBezTo>
                    <a:pt x="144" y="91"/>
                    <a:pt x="145" y="90"/>
                    <a:pt x="146" y="90"/>
                  </a:cubicBezTo>
                  <a:cubicBezTo>
                    <a:pt x="146" y="90"/>
                    <a:pt x="257" y="32"/>
                    <a:pt x="257" y="32"/>
                  </a:cubicBezTo>
                  <a:cubicBezTo>
                    <a:pt x="265" y="28"/>
                    <a:pt x="264" y="24"/>
                    <a:pt x="256" y="22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0" y="0"/>
                    <a:pt x="127" y="1"/>
                    <a:pt x="119" y="5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18" y="55"/>
                    <a:pt x="17" y="56"/>
                    <a:pt x="16" y="56"/>
                  </a:cubicBezTo>
                  <a:cubicBezTo>
                    <a:pt x="10" y="60"/>
                    <a:pt x="5" y="67"/>
                    <a:pt x="3" y="75"/>
                  </a:cubicBezTo>
                  <a:cubicBezTo>
                    <a:pt x="1" y="85"/>
                    <a:pt x="5" y="95"/>
                    <a:pt x="12" y="102"/>
                  </a:cubicBezTo>
                  <a:cubicBezTo>
                    <a:pt x="8" y="106"/>
                    <a:pt x="5" y="111"/>
                    <a:pt x="3" y="117"/>
                  </a:cubicBezTo>
                  <a:cubicBezTo>
                    <a:pt x="1" y="127"/>
                    <a:pt x="5" y="137"/>
                    <a:pt x="12" y="144"/>
                  </a:cubicBezTo>
                  <a:cubicBezTo>
                    <a:pt x="8" y="148"/>
                    <a:pt x="5" y="153"/>
                    <a:pt x="3" y="159"/>
                  </a:cubicBezTo>
                  <a:cubicBezTo>
                    <a:pt x="0" y="174"/>
                    <a:pt x="10" y="190"/>
                    <a:pt x="25" y="193"/>
                  </a:cubicBezTo>
                  <a:cubicBezTo>
                    <a:pt x="25" y="193"/>
                    <a:pt x="148" y="219"/>
                    <a:pt x="149" y="219"/>
                  </a:cubicBezTo>
                  <a:cubicBezTo>
                    <a:pt x="150" y="219"/>
                    <a:pt x="152" y="219"/>
                    <a:pt x="153" y="218"/>
                  </a:cubicBezTo>
                  <a:cubicBezTo>
                    <a:pt x="264" y="160"/>
                    <a:pt x="264" y="160"/>
                    <a:pt x="264" y="160"/>
                  </a:cubicBezTo>
                  <a:cubicBezTo>
                    <a:pt x="267" y="158"/>
                    <a:pt x="269" y="153"/>
                    <a:pt x="267" y="150"/>
                  </a:cubicBezTo>
                  <a:cubicBezTo>
                    <a:pt x="265" y="146"/>
                    <a:pt x="260" y="145"/>
                    <a:pt x="257" y="146"/>
                  </a:cubicBezTo>
                  <a:cubicBezTo>
                    <a:pt x="148" y="204"/>
                    <a:pt x="148" y="204"/>
                    <a:pt x="148" y="204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21" y="176"/>
                    <a:pt x="17" y="169"/>
                    <a:pt x="18" y="162"/>
                  </a:cubicBezTo>
                  <a:cubicBezTo>
                    <a:pt x="20" y="155"/>
                    <a:pt x="27" y="151"/>
                    <a:pt x="34" y="152"/>
                  </a:cubicBezTo>
                  <a:close/>
                  <a:moveTo>
                    <a:pt x="142" y="26"/>
                  </a:moveTo>
                  <a:cubicBezTo>
                    <a:pt x="193" y="37"/>
                    <a:pt x="193" y="37"/>
                    <a:pt x="193" y="37"/>
                  </a:cubicBezTo>
                  <a:cubicBezTo>
                    <a:pt x="170" y="48"/>
                    <a:pt x="170" y="48"/>
                    <a:pt x="170" y="48"/>
                  </a:cubicBezTo>
                  <a:cubicBezTo>
                    <a:pt x="119" y="37"/>
                    <a:pt x="119" y="37"/>
                    <a:pt x="119" y="37"/>
                  </a:cubicBezTo>
                  <a:lnTo>
                    <a:pt x="142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318895" y="1793875"/>
            <a:ext cx="71393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</a:rPr>
              <a:t>Case 2 — Hex decoding: genesis block hidden message</a:t>
            </a:r>
            <a:endParaRPr lang="en-US" altLang="zh-CN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318895" y="2232660"/>
            <a:ext cx="9133205" cy="1861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/>
            <a:r>
              <a:rPr lang="en-US" altLang="zh-CN" sz="1400"/>
              <a:t>Q: What is Satoshi's hidden message in the genesis block coinbase?</a:t>
            </a:r>
            <a:endParaRPr lang="en-US" altLang="zh-CN" sz="1400"/>
          </a:p>
          <a:p>
            <a:pPr algn="just"/>
            <a:r>
              <a:rPr lang="en-US" altLang="zh-CN" sz="1400"/>
              <a:t>- Correct: retrieve hex coinbase field, decode to ASCII </a:t>
            </a:r>
            <a:r>
              <a:rPr lang="en-US" altLang="en-US" sz="1400"/>
              <a:t>→</a:t>
            </a:r>
            <a:endParaRPr lang="en-US" altLang="en-US" sz="1400"/>
          </a:p>
          <a:p>
            <a:pPr algn="just"/>
            <a:r>
              <a:rPr lang="en-US" altLang="zh-CN" sz="1400"/>
              <a:t>  "The Times 03/Jan/2009 Chancellor on brink of second bailout for banks"</a:t>
            </a:r>
            <a:endParaRPr lang="en-US" altLang="zh-CN" sz="1400"/>
          </a:p>
          <a:p>
            <a:pPr algn="just"/>
            <a:r>
              <a:rPr lang="en-US" altLang="zh-CN" sz="1400"/>
              <a:t>- System does: generates invalid SQL trying to decode hex in-database </a:t>
            </a:r>
            <a:r>
              <a:rPr lang="en-US" altLang="en-US" sz="1400"/>
              <a:t>→</a:t>
            </a:r>
            <a:endParaRPr lang="en-US" altLang="en-US" sz="1400"/>
          </a:p>
          <a:p>
            <a:pPr algn="just"/>
            <a:r>
              <a:rPr lang="en-US" altLang="zh-CN" sz="1400"/>
              <a:t>  OperationalError: no such table: g</a:t>
            </a:r>
            <a:endParaRPr lang="en-US" altLang="zh-CN" sz="1400"/>
          </a:p>
          <a:p>
            <a:pPr algn="just"/>
            <a:r>
              <a:rPr lang="en-US" altLang="zh-CN" sz="1400"/>
              <a:t>- Root cause: SQLite has no hex-to-text function; the task requires a step</a:t>
            </a:r>
            <a:endParaRPr lang="en-US" altLang="zh-CN" sz="1400"/>
          </a:p>
          <a:p>
            <a:pPr algn="just"/>
            <a:r>
              <a:rPr lang="en-US" altLang="zh-CN" sz="1400"/>
              <a:t>  outside of SQL entirely</a:t>
            </a:r>
            <a:endParaRPr lang="en-US" altLang="zh-CN" sz="14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270" y="4093845"/>
            <a:ext cx="8407400" cy="1638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18895" y="770255"/>
            <a:ext cx="91332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K Normal" panose="020B0400000000000000" pitchFamily="34" charset="-128"/>
                <a:ea typeface="Source Han Sans K Normal" panose="020B0400000000000000" pitchFamily="34" charset="-128"/>
              </a:rPr>
              <a:t>Where Text-to-SQL Breaks on Bitcoin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Source Han Sans K Normal" panose="020B0400000000000000" pitchFamily="34" charset="-128"/>
              <a:ea typeface="Source Han Sans K Normal" panose="020B0400000000000000" pitchFamily="34" charset="-128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98087" y="1020610"/>
            <a:ext cx="773160" cy="773160"/>
            <a:chOff x="868974" y="4410921"/>
            <a:chExt cx="773160" cy="773160"/>
          </a:xfrm>
        </p:grpSpPr>
        <p:sp>
          <p:nvSpPr>
            <p:cNvPr id="6" name="椭圆 5"/>
            <p:cNvSpPr/>
            <p:nvPr/>
          </p:nvSpPr>
          <p:spPr>
            <a:xfrm>
              <a:off x="868974" y="4410921"/>
              <a:ext cx="773160" cy="77316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Freeform 91"/>
            <p:cNvSpPr>
              <a:spLocks noEditPoints="1"/>
            </p:cNvSpPr>
            <p:nvPr/>
          </p:nvSpPr>
          <p:spPr bwMode="auto">
            <a:xfrm>
              <a:off x="1010809" y="4594862"/>
              <a:ext cx="496816" cy="405277"/>
            </a:xfrm>
            <a:custGeom>
              <a:avLst/>
              <a:gdLst>
                <a:gd name="T0" fmla="*/ 34 w 269"/>
                <a:gd name="T1" fmla="*/ 152 h 219"/>
                <a:gd name="T2" fmla="*/ 148 w 269"/>
                <a:gd name="T3" fmla="*/ 177 h 219"/>
                <a:gd name="T4" fmla="*/ 153 w 269"/>
                <a:gd name="T5" fmla="*/ 176 h 219"/>
                <a:gd name="T6" fmla="*/ 264 w 269"/>
                <a:gd name="T7" fmla="*/ 118 h 219"/>
                <a:gd name="T8" fmla="*/ 267 w 269"/>
                <a:gd name="T9" fmla="*/ 107 h 219"/>
                <a:gd name="T10" fmla="*/ 257 w 269"/>
                <a:gd name="T11" fmla="*/ 104 h 219"/>
                <a:gd name="T12" fmla="*/ 148 w 269"/>
                <a:gd name="T13" fmla="*/ 161 h 219"/>
                <a:gd name="T14" fmla="*/ 28 w 269"/>
                <a:gd name="T15" fmla="*/ 136 h 219"/>
                <a:gd name="T16" fmla="*/ 18 w 269"/>
                <a:gd name="T17" fmla="*/ 120 h 219"/>
                <a:gd name="T18" fmla="*/ 34 w 269"/>
                <a:gd name="T19" fmla="*/ 110 h 219"/>
                <a:gd name="T20" fmla="*/ 150 w 269"/>
                <a:gd name="T21" fmla="*/ 135 h 219"/>
                <a:gd name="T22" fmla="*/ 153 w 269"/>
                <a:gd name="T23" fmla="*/ 134 h 219"/>
                <a:gd name="T24" fmla="*/ 264 w 269"/>
                <a:gd name="T25" fmla="*/ 76 h 219"/>
                <a:gd name="T26" fmla="*/ 267 w 269"/>
                <a:gd name="T27" fmla="*/ 65 h 219"/>
                <a:gd name="T28" fmla="*/ 257 w 269"/>
                <a:gd name="T29" fmla="*/ 62 h 219"/>
                <a:gd name="T30" fmla="*/ 148 w 269"/>
                <a:gd name="T31" fmla="*/ 119 h 219"/>
                <a:gd name="T32" fmla="*/ 28 w 269"/>
                <a:gd name="T33" fmla="*/ 93 h 219"/>
                <a:gd name="T34" fmla="*/ 18 w 269"/>
                <a:gd name="T35" fmla="*/ 78 h 219"/>
                <a:gd name="T36" fmla="*/ 34 w 269"/>
                <a:gd name="T37" fmla="*/ 68 h 219"/>
                <a:gd name="T38" fmla="*/ 143 w 269"/>
                <a:gd name="T39" fmla="*/ 91 h 219"/>
                <a:gd name="T40" fmla="*/ 146 w 269"/>
                <a:gd name="T41" fmla="*/ 90 h 219"/>
                <a:gd name="T42" fmla="*/ 257 w 269"/>
                <a:gd name="T43" fmla="*/ 32 h 219"/>
                <a:gd name="T44" fmla="*/ 256 w 269"/>
                <a:gd name="T45" fmla="*/ 22 h 219"/>
                <a:gd name="T46" fmla="*/ 148 w 269"/>
                <a:gd name="T47" fmla="*/ 1 h 219"/>
                <a:gd name="T48" fmla="*/ 119 w 269"/>
                <a:gd name="T49" fmla="*/ 5 h 219"/>
                <a:gd name="T50" fmla="*/ 20 w 269"/>
                <a:gd name="T51" fmla="*/ 54 h 219"/>
                <a:gd name="T52" fmla="*/ 16 w 269"/>
                <a:gd name="T53" fmla="*/ 56 h 219"/>
                <a:gd name="T54" fmla="*/ 3 w 269"/>
                <a:gd name="T55" fmla="*/ 75 h 219"/>
                <a:gd name="T56" fmla="*/ 12 w 269"/>
                <a:gd name="T57" fmla="*/ 102 h 219"/>
                <a:gd name="T58" fmla="*/ 3 w 269"/>
                <a:gd name="T59" fmla="*/ 117 h 219"/>
                <a:gd name="T60" fmla="*/ 12 w 269"/>
                <a:gd name="T61" fmla="*/ 144 h 219"/>
                <a:gd name="T62" fmla="*/ 3 w 269"/>
                <a:gd name="T63" fmla="*/ 159 h 219"/>
                <a:gd name="T64" fmla="*/ 25 w 269"/>
                <a:gd name="T65" fmla="*/ 193 h 219"/>
                <a:gd name="T66" fmla="*/ 149 w 269"/>
                <a:gd name="T67" fmla="*/ 219 h 219"/>
                <a:gd name="T68" fmla="*/ 153 w 269"/>
                <a:gd name="T69" fmla="*/ 218 h 219"/>
                <a:gd name="T70" fmla="*/ 264 w 269"/>
                <a:gd name="T71" fmla="*/ 160 h 219"/>
                <a:gd name="T72" fmla="*/ 267 w 269"/>
                <a:gd name="T73" fmla="*/ 150 h 219"/>
                <a:gd name="T74" fmla="*/ 257 w 269"/>
                <a:gd name="T75" fmla="*/ 146 h 219"/>
                <a:gd name="T76" fmla="*/ 148 w 269"/>
                <a:gd name="T77" fmla="*/ 204 h 219"/>
                <a:gd name="T78" fmla="*/ 28 w 269"/>
                <a:gd name="T79" fmla="*/ 178 h 219"/>
                <a:gd name="T80" fmla="*/ 18 w 269"/>
                <a:gd name="T81" fmla="*/ 162 h 219"/>
                <a:gd name="T82" fmla="*/ 34 w 269"/>
                <a:gd name="T83" fmla="*/ 152 h 219"/>
                <a:gd name="T84" fmla="*/ 142 w 269"/>
                <a:gd name="T85" fmla="*/ 26 h 219"/>
                <a:gd name="T86" fmla="*/ 193 w 269"/>
                <a:gd name="T87" fmla="*/ 37 h 219"/>
                <a:gd name="T88" fmla="*/ 170 w 269"/>
                <a:gd name="T89" fmla="*/ 48 h 219"/>
                <a:gd name="T90" fmla="*/ 119 w 269"/>
                <a:gd name="T91" fmla="*/ 37 h 219"/>
                <a:gd name="T92" fmla="*/ 142 w 269"/>
                <a:gd name="T93" fmla="*/ 26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69" h="219">
                  <a:moveTo>
                    <a:pt x="34" y="152"/>
                  </a:moveTo>
                  <a:cubicBezTo>
                    <a:pt x="34" y="152"/>
                    <a:pt x="148" y="177"/>
                    <a:pt x="148" y="177"/>
                  </a:cubicBezTo>
                  <a:cubicBezTo>
                    <a:pt x="150" y="177"/>
                    <a:pt x="152" y="177"/>
                    <a:pt x="153" y="176"/>
                  </a:cubicBezTo>
                  <a:cubicBezTo>
                    <a:pt x="264" y="118"/>
                    <a:pt x="264" y="118"/>
                    <a:pt x="264" y="118"/>
                  </a:cubicBezTo>
                  <a:cubicBezTo>
                    <a:pt x="267" y="116"/>
                    <a:pt x="269" y="111"/>
                    <a:pt x="267" y="107"/>
                  </a:cubicBezTo>
                  <a:cubicBezTo>
                    <a:pt x="265" y="104"/>
                    <a:pt x="260" y="102"/>
                    <a:pt x="257" y="104"/>
                  </a:cubicBezTo>
                  <a:cubicBezTo>
                    <a:pt x="148" y="161"/>
                    <a:pt x="148" y="161"/>
                    <a:pt x="148" y="161"/>
                  </a:cubicBezTo>
                  <a:cubicBezTo>
                    <a:pt x="28" y="136"/>
                    <a:pt x="28" y="136"/>
                    <a:pt x="28" y="136"/>
                  </a:cubicBezTo>
                  <a:cubicBezTo>
                    <a:pt x="21" y="134"/>
                    <a:pt x="17" y="127"/>
                    <a:pt x="18" y="120"/>
                  </a:cubicBezTo>
                  <a:cubicBezTo>
                    <a:pt x="20" y="113"/>
                    <a:pt x="27" y="108"/>
                    <a:pt x="34" y="110"/>
                  </a:cubicBezTo>
                  <a:cubicBezTo>
                    <a:pt x="34" y="110"/>
                    <a:pt x="149" y="135"/>
                    <a:pt x="150" y="135"/>
                  </a:cubicBezTo>
                  <a:cubicBezTo>
                    <a:pt x="151" y="135"/>
                    <a:pt x="152" y="134"/>
                    <a:pt x="153" y="134"/>
                  </a:cubicBezTo>
                  <a:cubicBezTo>
                    <a:pt x="264" y="76"/>
                    <a:pt x="264" y="76"/>
                    <a:pt x="264" y="76"/>
                  </a:cubicBezTo>
                  <a:cubicBezTo>
                    <a:pt x="267" y="74"/>
                    <a:pt x="269" y="69"/>
                    <a:pt x="267" y="65"/>
                  </a:cubicBezTo>
                  <a:cubicBezTo>
                    <a:pt x="265" y="61"/>
                    <a:pt x="260" y="60"/>
                    <a:pt x="257" y="62"/>
                  </a:cubicBezTo>
                  <a:cubicBezTo>
                    <a:pt x="148" y="119"/>
                    <a:pt x="148" y="119"/>
                    <a:pt x="148" y="119"/>
                  </a:cubicBezTo>
                  <a:cubicBezTo>
                    <a:pt x="28" y="93"/>
                    <a:pt x="28" y="93"/>
                    <a:pt x="28" y="93"/>
                  </a:cubicBezTo>
                  <a:cubicBezTo>
                    <a:pt x="21" y="92"/>
                    <a:pt x="17" y="85"/>
                    <a:pt x="18" y="78"/>
                  </a:cubicBezTo>
                  <a:cubicBezTo>
                    <a:pt x="20" y="71"/>
                    <a:pt x="27" y="66"/>
                    <a:pt x="34" y="68"/>
                  </a:cubicBezTo>
                  <a:cubicBezTo>
                    <a:pt x="34" y="68"/>
                    <a:pt x="142" y="91"/>
                    <a:pt x="143" y="91"/>
                  </a:cubicBezTo>
                  <a:cubicBezTo>
                    <a:pt x="144" y="91"/>
                    <a:pt x="145" y="90"/>
                    <a:pt x="146" y="90"/>
                  </a:cubicBezTo>
                  <a:cubicBezTo>
                    <a:pt x="146" y="90"/>
                    <a:pt x="257" y="32"/>
                    <a:pt x="257" y="32"/>
                  </a:cubicBezTo>
                  <a:cubicBezTo>
                    <a:pt x="265" y="28"/>
                    <a:pt x="264" y="24"/>
                    <a:pt x="256" y="22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0" y="0"/>
                    <a:pt x="127" y="1"/>
                    <a:pt x="119" y="5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18" y="55"/>
                    <a:pt x="17" y="56"/>
                    <a:pt x="16" y="56"/>
                  </a:cubicBezTo>
                  <a:cubicBezTo>
                    <a:pt x="10" y="60"/>
                    <a:pt x="5" y="67"/>
                    <a:pt x="3" y="75"/>
                  </a:cubicBezTo>
                  <a:cubicBezTo>
                    <a:pt x="1" y="85"/>
                    <a:pt x="5" y="95"/>
                    <a:pt x="12" y="102"/>
                  </a:cubicBezTo>
                  <a:cubicBezTo>
                    <a:pt x="8" y="106"/>
                    <a:pt x="5" y="111"/>
                    <a:pt x="3" y="117"/>
                  </a:cubicBezTo>
                  <a:cubicBezTo>
                    <a:pt x="1" y="127"/>
                    <a:pt x="5" y="137"/>
                    <a:pt x="12" y="144"/>
                  </a:cubicBezTo>
                  <a:cubicBezTo>
                    <a:pt x="8" y="148"/>
                    <a:pt x="5" y="153"/>
                    <a:pt x="3" y="159"/>
                  </a:cubicBezTo>
                  <a:cubicBezTo>
                    <a:pt x="0" y="174"/>
                    <a:pt x="10" y="190"/>
                    <a:pt x="25" y="193"/>
                  </a:cubicBezTo>
                  <a:cubicBezTo>
                    <a:pt x="25" y="193"/>
                    <a:pt x="148" y="219"/>
                    <a:pt x="149" y="219"/>
                  </a:cubicBezTo>
                  <a:cubicBezTo>
                    <a:pt x="150" y="219"/>
                    <a:pt x="152" y="219"/>
                    <a:pt x="153" y="218"/>
                  </a:cubicBezTo>
                  <a:cubicBezTo>
                    <a:pt x="264" y="160"/>
                    <a:pt x="264" y="160"/>
                    <a:pt x="264" y="160"/>
                  </a:cubicBezTo>
                  <a:cubicBezTo>
                    <a:pt x="267" y="158"/>
                    <a:pt x="269" y="153"/>
                    <a:pt x="267" y="150"/>
                  </a:cubicBezTo>
                  <a:cubicBezTo>
                    <a:pt x="265" y="146"/>
                    <a:pt x="260" y="145"/>
                    <a:pt x="257" y="146"/>
                  </a:cubicBezTo>
                  <a:cubicBezTo>
                    <a:pt x="148" y="204"/>
                    <a:pt x="148" y="204"/>
                    <a:pt x="148" y="204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21" y="176"/>
                    <a:pt x="17" y="169"/>
                    <a:pt x="18" y="162"/>
                  </a:cubicBezTo>
                  <a:cubicBezTo>
                    <a:pt x="20" y="155"/>
                    <a:pt x="27" y="151"/>
                    <a:pt x="34" y="152"/>
                  </a:cubicBezTo>
                  <a:close/>
                  <a:moveTo>
                    <a:pt x="142" y="26"/>
                  </a:moveTo>
                  <a:cubicBezTo>
                    <a:pt x="193" y="37"/>
                    <a:pt x="193" y="37"/>
                    <a:pt x="193" y="37"/>
                  </a:cubicBezTo>
                  <a:cubicBezTo>
                    <a:pt x="170" y="48"/>
                    <a:pt x="170" y="48"/>
                    <a:pt x="170" y="48"/>
                  </a:cubicBezTo>
                  <a:cubicBezTo>
                    <a:pt x="119" y="37"/>
                    <a:pt x="119" y="37"/>
                    <a:pt x="119" y="37"/>
                  </a:cubicBezTo>
                  <a:lnTo>
                    <a:pt x="142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318895" y="1793875"/>
            <a:ext cx="71393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</a:rPr>
              <a:t>Case 3 — Timestamp semantics: blocks mined in 2011</a:t>
            </a:r>
            <a:endParaRPr lang="en-US" altLang="zh-CN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318895" y="2232660"/>
            <a:ext cx="9133205" cy="1861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/>
            <a:r>
              <a:rPr lang="en-US" altLang="zh-CN" sz="1400"/>
              <a:t>Q: How many blocks were mined in the year 2011 (UTC)?</a:t>
            </a:r>
            <a:endParaRPr lang="en-US" altLang="zh-CN" sz="1400"/>
          </a:p>
          <a:p>
            <a:pPr algn="just"/>
            <a:r>
              <a:rPr lang="en-US" altLang="zh-CN" sz="1400"/>
              <a:t>- Correct: `strftime('%s','2011-01-01')` </a:t>
            </a:r>
            <a:r>
              <a:rPr lang="en-US" altLang="en-US" sz="1400"/>
              <a:t>→</a:t>
            </a:r>
            <a:r>
              <a:rPr lang="en-US" altLang="zh-CN" sz="1400"/>
              <a:t> 3067</a:t>
            </a:r>
            <a:endParaRPr lang="en-US" altLang="zh-CN" sz="1400"/>
          </a:p>
          <a:p>
            <a:pPr algn="just"/>
            <a:r>
              <a:rPr lang="en-US" altLang="zh-CN" sz="1400"/>
              <a:t>- System does: adds `'utc'` modifier, shifting the boundary by timezone offset </a:t>
            </a:r>
            <a:r>
              <a:rPr lang="en-US" altLang="en-US" sz="1400"/>
              <a:t>→</a:t>
            </a:r>
            <a:r>
              <a:rPr lang="en-US" altLang="zh-CN" sz="1400"/>
              <a:t> 3011</a:t>
            </a:r>
            <a:endParaRPr lang="en-US" altLang="zh-CN" sz="1400"/>
          </a:p>
          <a:p>
            <a:pPr algn="just"/>
            <a:r>
              <a:rPr lang="en-US" altLang="zh-CN" sz="1400"/>
              <a:t>- Root cause: the `'utc'` modifier tells SQLite to treat input as “local time”</a:t>
            </a:r>
            <a:endParaRPr lang="en-US" altLang="zh-CN" sz="1400"/>
          </a:p>
          <a:p>
            <a:pPr algn="just"/>
            <a:r>
              <a:rPr lang="en-US" altLang="zh-CN" sz="1400"/>
              <a:t>  and convert it, introducing a subtle 56-block error</a:t>
            </a:r>
            <a:endParaRPr lang="en-US" altLang="zh-CN" sz="14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270" y="3777615"/>
            <a:ext cx="7440295" cy="2127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1588</Words>
  <Application>WPS 演示</Application>
  <PresentationFormat>宽屏</PresentationFormat>
  <Paragraphs>40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Source Han Sans K Normal</vt:lpstr>
      <vt:lpstr>冬青黑体简体中文</vt:lpstr>
      <vt:lpstr>Source Han Sans K Light</vt:lpstr>
      <vt:lpstr>苹方-简</vt:lpstr>
      <vt:lpstr>微软雅黑</vt:lpstr>
      <vt:lpstr>汉仪旗黑</vt:lpstr>
      <vt:lpstr>宋体</vt:lpstr>
      <vt:lpstr>Arial Unicode MS</vt:lpstr>
      <vt:lpstr>Source Han Sans K Light</vt:lpstr>
      <vt:lpstr>Source Han Sans K Normal</vt:lpstr>
      <vt:lpstr>汉仪书宋二KW</vt:lpstr>
      <vt:lpstr>PingFang SC Semibold</vt:lpstr>
      <vt:lpstr>华文黑体</vt:lpstr>
      <vt:lpstr>PingFang TC Regular</vt:lpstr>
      <vt:lpstr>Arial Regular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无限远点的北极星</cp:lastModifiedBy>
  <cp:revision>163</cp:revision>
  <dcterms:created xsi:type="dcterms:W3CDTF">2026-06-08T18:59:36Z</dcterms:created>
  <dcterms:modified xsi:type="dcterms:W3CDTF">2026-06-08T18:59:36Z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2052-7.3.1.8967</vt:lpwstr>
  </property>
  <property fmtid="{D5CDD505-2E9C-101B-9397-08002B2CF9AE}" pid="3" name="ICV">
    <vt:lpwstr>52C3DB613AF3025B350A276A84EF8D38_41</vt:lpwstr>
  </property>
</Properties>
</file>